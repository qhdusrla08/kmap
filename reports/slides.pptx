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X-ray 영상 기반 완제품 이물질 탐지 및 AI 미탐지 조건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제6회 K-인공지능 제조데이터 분석 경진대회 · 과제 ④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팀명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문제와 데이터의 함정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최종 X-ray 검사 단계: 미검 = 시장 유출 → Recall 최우선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장비 NG 영상만 수집: 고유 2,532장, 라벨 500장(1,147객체), 음성 0장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장비 색상 표시가 2,809장 전부에 있음, TXT 중심 99.8%가 표시 안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맑은 고딕"/>
              </a:rPr>
              <a:t>· 표시만 쓰는 탐지기 F1 0.94 → 높은 점수 ≠ 이물 학습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실제 이물: 2–4px 점, 띠 끝에 위치. 영상의 90%가 4시간 주기(감도점검 세션 추정)</a:t>
            </a:r>
          </a:p>
        </p:txBody>
      </p:sp>
      <p:pic>
        <p:nvPicPr>
          <p:cNvPr id="4" name="Picture 3" descr="data_label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2021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표시 제거와 흔적-이물 독립화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팔레트 인덱스 ≥244 = 표시(손실 없이 정확히 검출)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후광(바깥 약 3px) 실측 → 2px 팽창 + Telea + 밝기별 잡음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decoy: 후광까지 합성한 가짜 표시(흔적 O, 이물 X)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이식: Beer–Lambert 투과율(이물 O, 흔적 X)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평가 입력은 clean 영상(decoy 없음)</a:t>
            </a:r>
          </a:p>
        </p:txBody>
      </p:sp>
      <p:pic>
        <p:nvPicPr>
          <p:cNvPr id="4" name="Picture 3" descr="qc_inpaint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3797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분할과 평가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그룹 = 달력 날짜(전 호기 공통) — 같은 초 다호기 세션·시험편 반복 촬영 대응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동결 테스트 100장(7개 날짜, 4개 월, 3개 호기) — 마지막에 한 번만 평가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dev 400장 날짜 4-fold OOF로 선택·보정·임계값 결정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음성 0장 → 같은 제품 배경의 실제 픽셀로 음성 대용(bg_max), FPPI·유병률 환산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추가: 호기 hold-out(LOMO), 전향(6–7월 → 8–9월)</a:t>
            </a:r>
          </a:p>
        </p:txBody>
      </p:sp>
      <p:pic>
        <p:nvPicPr>
          <p:cNvPr id="4" name="Picture 3" descr="data_tim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20621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모델 비교 (dev OOF, IoU 0.5)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IoU 0.5 정확도는 고전 모델도 포화 → 차이는 강건성·박스 정밀도·속도에서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COCO 사전학습: scratch 대비 AP50 +1.4%p, 배경 과검 감소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0" y="1097280"/>
          <a:ext cx="6065215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869"/>
                <a:gridCol w="1010869"/>
                <a:gridCol w="1010869"/>
                <a:gridCol w="1010869"/>
                <a:gridCol w="1010869"/>
                <a:gridCol w="101087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AP50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AP50:95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R@FPPI0.1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배경 과검 p99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HGB 베이스라인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0.128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YOLOv8s-P2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0.197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YOLOv8s-P2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0.034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YOLOv8s-P3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0.050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YOLOv8s-P2 v2b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0.058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YOLOv8s-P3 v2b (최종)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지름길(표시 누수)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T3 decoy 흔적 자리, T4 이물만 지운 자리에서 발화하지 않아야 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T5 흔적 없는 위치로 옮긴 이물도 찾아야 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T7 코어를 가리면 무너지고 링을 가려도 유지 → 이물 자체를 봄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α=0.1 원위치 바닥값: v2(흔적O·이물X 음성)로 제거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0" y="1097280"/>
          <a:ext cx="606521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869"/>
                <a:gridCol w="1010869"/>
                <a:gridCol w="1010869"/>
                <a:gridCol w="1010869"/>
                <a:gridCol w="1010869"/>
                <a:gridCol w="101087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T3 decoy 발화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T4 삭제 후 발화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T5 이식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T7 코어 차폐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α=0.1 원위치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HGB 베이스라인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19.6%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YOLOv8s-P2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21.9%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YOLOv8s-P2 v2b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2.7%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YOLOv8s-P3 v2b (최종)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조건 분석: 대비 × 위치 탐지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실제 라벨은 '띠 끝의 고대비 점'뿐 → 통제 스트레스 시험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투과율 감쇠 T_α = 1 − α(1 − T), 흔적 없는 띠 끝·내부·가장자리 이식</a:t>
            </a:r>
          </a:p>
        </p:txBody>
      </p:sp>
      <p:pic>
        <p:nvPicPr>
          <p:cNvPr id="4" name="Picture 3" descr="report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15862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보정과 3구간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Platt 보정: ECE 0.216 → 0.002 (최종모델)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통과 &lt; t_low = min(사전 0.947, 검출 임계값 0.833) — 검출하면 자동 통과 없음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OOD 가드: 제품 구조가 학습 범위 밖이면 재검사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배출 ≥ t_high (음성 대용 400장 중 0장)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TTA 불확실성(std ≥ 0.1) → 통과 구간이라도 재검사</a:t>
            </a:r>
          </a:p>
        </p:txBody>
      </p:sp>
      <p:pic>
        <p:nvPicPr>
          <p:cNvPr id="4" name="Picture 3" descr="report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3234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동결 테스트 결과 (한 번만 평가)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AP50 0.973 · AP50:95 0.392 · R@FPPI0.1 0.983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OOF 임계값에서 P 0.983 · R 0.983 · F1 0.983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객체 recall 95% CI(날짜 부트스트랩) 0.974–1.000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사전 규칙 3구간: 1객체 61장 중 9장 통과 → 이식 실패(다음 장)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사후 확인(설계 전 결과를 본 데이터): 현행 규칙 1객체 통과 0/61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통과 임계값 이식 실패: 원인과 dev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테스트 통과 9장 = 모두 3호기 1띠 영상, 탐지는 됨(점수 0.45–0.54)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원인: R0는 양성 분포 아래 끝에 붙어 여유 0 + 3호기 1띠 점수 척도 하락 + 재학습 모델 이동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dev 시뮬레이션(LOFO·중첩 학습)으로 재현, 기준은 실행 전 고정(비용 ≤ 1%)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720" y="1097280"/>
          <a:ext cx="6065215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738"/>
                <a:gridCol w="2021738"/>
                <a:gridCol w="2021739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LOFO 누수 · 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7"/>
                          </a:solidFill>
                          <a:latin typeface="맑은 고딕"/>
                        </a:rPr>
                        <a:t>NESTED 누수 · 비용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R0 사전(recall 0.99 최대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2/115 · 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12/115 · 0.00%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R1 min(R0, 검출 임계값) ←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2/115 · 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3/115 · 0.00%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R2 호기별 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2/115 · 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12/115 · 0.00%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R3 부트스트랩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2/115 · 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12/115 · 0.00%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R4 비용 ≤0.5% 최소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0/115 · 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7"/>
                          </a:solidFill>
                          <a:latin typeface="맑은 고딕"/>
                        </a:rPr>
                        <a:t>0/115 · 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t_low 위치별 미검 누수 vs 재검사 비용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음성 대용 비용은 원점수 0.1–0.5에서 거의 평평, 양성은 0.54 이상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양성 쪽에서 정한 규칙(R0–R3)은 여유가 없고, 비용 쪽 규칙(R4)은 누수 0 대신 비용 증가</a:t>
            </a:r>
          </a:p>
        </p:txBody>
      </p:sp>
      <p:pic>
        <p:nvPicPr>
          <p:cNvPr id="4" name="Picture 3" descr="threshold_tradeoff_p3_coco_v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29113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모니터링 정정: 3호기 '드리프트'의 실체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영상당 top-1 박스로 집계 → 이물 대비·영상 품질은 전 기간 안정(장비 열화 신호 없음)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3호기가 1띠 제품으로 바뀐 07-21부터 점수만 0.69 → 0.58–0.67 (1·2호기 1띠는 0.72–0.73)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통과 판정 3호기 44장 전부 검출 임계값 이상 박스 1개 → 탐지 실패가 아닌 임계값 문제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1호기 07-27 띠 없는 다른 제품(OOD) 93장 → OOD 가드로 재검사</a:t>
            </a:r>
          </a:p>
        </p:txBody>
      </p:sp>
      <p:pic>
        <p:nvPicPr>
          <p:cNvPr id="4" name="Picture 3" descr="monitor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065215" cy="51217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현장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장비 NG 영상의 2차 판정기: 통과 / 재검사 / 배출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처리 시간: 전처리 13.6ms + 탐지 13.0ms/장 (GPU)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점검 세션별 이물 대비(장비)·top-1 점수(판정 척도)를 분리 감시 → 열화·재보정 알림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도입 전 OK 영상 수집으로 미검 감소 효과 검증 필요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재현성과 규정 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python run_all.py 단일 명령 (core / full 프로필), 고정 seed·동결 분할 해시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early stopping 없음, last.pt OOF, 테스트는 final 단계에서 한 번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외부 자원: COCO 사전학습 YOLOv8s(AGPL-3.0) — scratch 비교로 기여 정량화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블라인드 점검 스크립트로 제출물의 식별 정보·절대경로 검사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B2"/>
                </a:solidFill>
                <a:latin typeface="맑은 고딕"/>
              </a:rPr>
              <a:t>한계와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양품(OK) 영상 0장: 이미지 정밀도·현장 과검률은 대용 추정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시험편 반복 촬영 가능성: 새로운 이물에 대한 일반화는 미보장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공식 정답 TXT의 누락 사례 존재(마킹 3개·TXT 2개)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현장 적용 시 표시 없는 원영상 수집이 가장 큰 개선 요인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3호기 잡음 정합 증강(ablation): hold-out F1 0.761→0.825, 분포 안 3호기 R@FPPI 0.958→0.518 → 미채택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2A37"/>
                </a:solidFill>
                <a:latin typeface="맑은 고딕"/>
              </a:rPr>
              <a:t>■ 통과 규칙 변경은 테스트 실패 후 설계·dev 검증 → 현장 전향 검증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X-ray 이물 탐지와 미탐지 조건 분석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